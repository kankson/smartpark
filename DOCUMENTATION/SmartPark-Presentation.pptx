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12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7212B"/>
                </a:solidFill>
                <a:latin typeface="Calibri"/>
              </a:rPr>
              <a:t>18 automated tests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32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Domain and booking</c:v>
                  </c:pt>
                  <c:pt idx="1">
                    <c:v>Database</c:v>
                  </c:pt>
                  <c:pt idx="2">
                    <c:v>Payments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932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932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problem in one line, then say what the demo will show. Do not start with the tech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up front that every claim in the deck is something you can show running. That framing earns you credit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sentences maximum on this slide. The problem statement is the only part of the deck the audience already believes.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once with your finger before you touch the keyboard. The audience needs the shape before the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database query short and pre-typed. Do not improvise SQL in front of an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security here, the answer is that the check runs in the server component, before any markup is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the direction of the arrows. Data flows down, trust never flows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so little runs in the browser: less client JavaScript, and no way for the browser to hold authoritative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B is the one examiners probe. Say plainly: browser validation is a convenience, server validation is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the handler is deliberately thin. All the judgement lives in the service, which is what the tests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A hand-drawn state machine is the clearest evidence of design rather than accretion.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whether real money moves: no. The AZA path is implemented and signed, but it needs merchant onboarding and a public HTTPS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real ticket on screen while you say this. The contrast between the busy QR image and the tiny payload lands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'is this a toy database'. The answer is that it enforces its own integrity and fails loudly.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names aloud. Point at the four groups and explain why enforcement is separate from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trade-off: this writes whole tables, which suits demo-sized data and would not suit a busy production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session weakness before anyone finds it. Naming your own gap is more convincing than claiming there are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remember one number, remember the restart test. It is the difference between a demo and a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slide with confidence, not apology. Knowing the boundary of your own system is part of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claim, then stop talking. Let the questions come to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08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MANAGEMENT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SmartPark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responsive PWA. Three roles. A server-authoritative booking,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enforcement workflow, persisted to a local database.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45537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056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4434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45537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5056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4434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45537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5056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4434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35440" y="45537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5056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SESSION RUNS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things, in this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97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run of the driver-to-warden loop, with a timed demo script you can follow.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116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697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Router is laid out, and which parts run on the server versus the browser.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976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983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handlers, the domain service, the state machine, payments and QR validation.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2976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983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schema, how it mirrors the production target, and how writes reach disk.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collection is easy. Verification is not.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City-centre parking loses money at the point of proof, not the point of sale. A driver can pay and still be unable to show it. A warden can suspect an overstay and have no way to confirm it. Cash handling leaves no audit trail anyone can query later.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375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 answers all three with one server-side record of truth.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69164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0" y="1892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25856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prices every booking from the zone rate and duration. The browser never sends an amount.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0" y="329184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0" y="34930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85876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paid booking issues a QR ticket. The database stores only a hash of the token.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489204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0" y="50932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545896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sessions raise violations automatically, and every check is written to an audit trail.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six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93392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756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signs in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cookie set server-side; role decides the landing route.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78224" y="2555748"/>
            <a:ext cx="219456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3736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93392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0756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and space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651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 per zone; the chosen space is held for ten minutes.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72984" y="2555748"/>
            <a:ext cx="219456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73736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1993392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0756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651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recalculates the price, then mock or AZA hosted checkout.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279392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3616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ticket issued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becomes reserved; a random token is hashed and stored.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78224" y="4841748"/>
            <a:ext cx="219456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402336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4279392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0916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43616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validates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Entry, status check or exit. The result is written as a verification event.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72984" y="4841748"/>
            <a:ext cx="219456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402336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03920" y="4279392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0392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43616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to violation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50392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sessions expire on a sweep and open a violation for the warden.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1-4 are the driver app. Steps 5-6 are the warden app. Both read and write the same server state.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PRESENT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ten-minute live demo, in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36776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4F8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92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1810512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problem in one sentence. Show the login page and the three role buttons.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23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as a driver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53288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driver. Map, pick a zone, pick a space, choose a duration, pay. Land on the ticket.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4F8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46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3:30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2369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is real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3255264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terminal and query the SQLite file. Show the booking, payment and hashed ticket rows.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684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959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as a warden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9776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warden. Validate the ticket in entry mode. Show the verification event it wrote.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4F8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90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7:00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681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an expiry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470001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expiry route to age the session. Show the violation appear on the warden dashboard.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413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8:30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404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on the design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069080" y="5422392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zone view, then one slide: server-authoritative pricing, hashed tickets, audit trail.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step 3. Opening a terminal mid-demo is what separates a working system from a screen recording.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THREE AUDIENCES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decides the route, the server enforces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22320" cy="3291840"/>
          </a:xfrm>
          <a:prstGeom prst="roundRect">
            <a:avLst>
              <a:gd name="adj" fmla="val 277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048256"/>
            <a:ext cx="131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/driver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277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and zone availability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and wallet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extend, cancel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ticket and history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9600" y="1737360"/>
            <a:ext cx="3322320" cy="3291840"/>
          </a:xfrm>
          <a:prstGeom prst="roundRect">
            <a:avLst>
              <a:gd name="adj" fmla="val 277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3920" y="20116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392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2048256"/>
            <a:ext cx="131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/warden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93920" y="2697480"/>
            <a:ext cx="277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and validate tickets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plate manually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live spaces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dismiss violations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9120" y="1737360"/>
            <a:ext cx="3322320" cy="3291840"/>
          </a:xfrm>
          <a:prstGeom prst="roundRect">
            <a:avLst>
              <a:gd name="adj" fmla="val 2778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3440" y="20116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734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982200" y="2048256"/>
            <a:ext cx="131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73440" y="2697480"/>
            <a:ext cx="277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and zone QR signs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and capacity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accounts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route is guarded server-side by requireRole(). A driver who types /admin is redirected, not hidden from.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direction of travel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772400" cy="804672"/>
          </a:xfrm>
          <a:prstGeom prst="roundRect">
            <a:avLst>
              <a:gd name="adj" fmla="val 11364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2140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PWA - server components, client islands for map, scanner and QR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07008" y="2560320"/>
            <a:ext cx="146304" cy="128016"/>
          </a:xfrm>
          <a:prstGeom prst="downArrow">
            <a:avLst/>
          </a:prstGeom>
          <a:solidFill>
            <a:srgbClr val="3342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97480"/>
            <a:ext cx="7772400" cy="804672"/>
          </a:xfrm>
          <a:prstGeom prst="roundRect">
            <a:avLst>
              <a:gd name="adj" fmla="val 11364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of the server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08152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route handlers and server actions. Zod parses every input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07008" y="3520440"/>
            <a:ext cx="146304" cy="128016"/>
          </a:xfrm>
          <a:prstGeom prst="downArrow">
            <a:avLst/>
          </a:prstGeom>
          <a:solidFill>
            <a:srgbClr val="3342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57600"/>
            <a:ext cx="7772400" cy="804672"/>
          </a:xfrm>
          <a:prstGeom prst="roundRect">
            <a:avLst>
              <a:gd name="adj" fmla="val 11364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04164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smartpark-service.ts - pricing, state transitions, validation, audit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07008" y="4480560"/>
            <a:ext cx="146304" cy="128016"/>
          </a:xfrm>
          <a:prstGeom prst="downArrow">
            <a:avLst/>
          </a:prstGeom>
          <a:solidFill>
            <a:srgbClr val="3342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617720"/>
            <a:ext cx="7772400" cy="804672"/>
          </a:xfrm>
          <a:prstGeom prst="roundRect">
            <a:avLst>
              <a:gd name="adj" fmla="val 11364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4690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00176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working set, flushed to SQLite through a typed schema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78240" y="1737360"/>
            <a:ext cx="2743200" cy="3685032"/>
          </a:xfrm>
          <a:prstGeom prst="roundRect">
            <a:avLst>
              <a:gd name="adj" fmla="val 3333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5256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providers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3774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Payments: mock provider locally, AZA hosted checkout in production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recognition: mock provider behind a single interface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now, the same schema targets Postgres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below the browser trusts anything above it. Prices, ticket validity and role are all decided server-side.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App Router is laid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760720" cy="3977640"/>
          </a:xfrm>
          <a:prstGeom prst="roundRect">
            <a:avLst>
              <a:gd name="adj" fmla="val 2299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layout.tsx          root shell, PWA + motion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page.tsx            public landing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not-found.tsx       custom 404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login/ register/    auth, with breadcrumbs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driver/             map, book, ticket, wallet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warden/             scanner, plates, violations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admin/              zones, spaces, wardens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api/                17 route handlers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ui/                 button, card, form, breadcrumbs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app-shell, navigation, countdown, metric-card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17373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040880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first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267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are server components. They call the domain service directly and render finished markup.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0" y="320040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040880" y="3383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islands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37307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four things ship interactivity: the map, the two scanners, and the QR ticket.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466344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40880" y="4846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shell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51937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app-shell and navigation component adapts to the signed-in role.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patterns worth pointing 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93392"/>
            <a:ext cx="475488" cy="47548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for auth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3852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registration are server actions. The password never reaches client JavaScript, and the session cookie is set httpOnly.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272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0540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on both sides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072384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schemas validate the form in the browser and the payload on the server. The server copy is the one that counts.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05072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61104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87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enhancement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42062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map, scanner and QR code are dynamic client components. Everything else renders without them.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38928"/>
            <a:ext cx="10881360" cy="987552"/>
          </a:xfrm>
          <a:prstGeom prst="roundRect">
            <a:avLst>
              <a:gd name="adj" fmla="val 9259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394960"/>
            <a:ext cx="475488" cy="47548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394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321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PWA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5340096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Manifest, service worker and an offline page, so a warden on a weak connection still gets a usable shell.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a single 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9868" y="2121408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29868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2724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src/app/api/**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1985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request, nothing more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95144" y="2898648"/>
            <a:ext cx="146304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92024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86100" y="2121408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861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26700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312724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 or fail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633472" y="341985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malformed input with a 400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51376" y="2898648"/>
            <a:ext cx="146304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52544" y="192024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42332" y="2121408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42332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89704" y="26700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312724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requireRole()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489704" y="341985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session and the role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07608" y="2898648"/>
            <a:ext cx="146304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192024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98564" y="2121408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98564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45936" y="26700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18504" y="312724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smartpark-service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341985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transitions, decides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63840" y="2898648"/>
            <a:ext cx="146304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5008" y="192024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54796" y="2121408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54796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02168" y="26700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174736" y="312724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markDirty()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202168" y="341985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Mutates state, schedules a write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720072" y="2898648"/>
            <a:ext cx="146304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21240" y="192024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511028" y="2121408"/>
            <a:ext cx="420624" cy="42062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511028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0" y="26700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030968" y="312724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.data/smartpark.db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0" y="341985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flushed on the next tick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43434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D5EFE5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9601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funnels through one place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60120" y="48646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jsonError() in src/lib/api.ts maps DomainError to its own status code, ZodError to a 400 with field issues, and anything unrecognised to a 500 - so no handler invents its own error shape.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booking cannot skip a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E9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pending_payment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46120" y="210312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E9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0" y="210312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E9F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58200" y="210312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932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32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77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payment_failed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397764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6120" y="3977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52160" y="397764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3977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71800" y="2377440"/>
            <a:ext cx="256032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377440"/>
            <a:ext cx="256032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377440"/>
            <a:ext cx="256032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1640" y="2788920"/>
            <a:ext cx="164592" cy="1170432"/>
          </a:xfrm>
          <a:prstGeom prst="down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788920"/>
            <a:ext cx="164592" cy="1170432"/>
          </a:xfrm>
          <a:prstGeom prst="down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2788920"/>
            <a:ext cx="164592" cy="1170432"/>
          </a:xfrm>
          <a:prstGeom prst="down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4251960"/>
            <a:ext cx="1481328" cy="146304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28048" y="2788920"/>
            <a:ext cx="164592" cy="1463040"/>
          </a:xfrm>
          <a:prstGeom prst="upArrow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5320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checkout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assertBookingTransition() rejects any move that is not on this diagram, and assertSpotTransition() does the same for parking spaces. An invalid transition throws before anything is written, so the database never holds a state the domain does not allow.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integrity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22320" cy="2514600"/>
          </a:xfrm>
          <a:prstGeom prst="roundRect">
            <a:avLst>
              <a:gd name="adj" fmla="val 3636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93392"/>
            <a:ext cx="402336" cy="402336"/>
          </a:xfrm>
          <a:prstGeom prst="ellipse">
            <a:avLst/>
          </a:prstGeom>
          <a:solidFill>
            <a:srgbClr val="D5EF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277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sets the price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27248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createBooking() recalculates the amount from the zone's hourly rate and the chosen duration. A tampered form field changes nothing.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9600" y="1737360"/>
            <a:ext cx="3322320" cy="2514600"/>
          </a:xfrm>
          <a:prstGeom prst="roundRect">
            <a:avLst>
              <a:gd name="adj" fmla="val 3636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3920" y="1993392"/>
            <a:ext cx="402336" cy="402336"/>
          </a:xfrm>
          <a:prstGeom prst="ellipse">
            <a:avLst/>
          </a:prstGeom>
          <a:solidFill>
            <a:srgbClr val="D5EF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392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93920" y="2514600"/>
            <a:ext cx="277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must be signed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93920" y="3127248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mock and AZA webhook routes verify an HMAC signature before the payload is read. An unsigned call is rejected.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9120" y="1737360"/>
            <a:ext cx="3322320" cy="2514600"/>
          </a:xfrm>
          <a:prstGeom prst="roundRect">
            <a:avLst>
              <a:gd name="adj" fmla="val 3636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3440" y="1993392"/>
            <a:ext cx="402336" cy="402336"/>
          </a:xfrm>
          <a:prstGeom prst="ellipse">
            <a:avLst/>
          </a:prstGeom>
          <a:solidFill>
            <a:srgbClr val="D5EF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344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73440" y="2514600"/>
            <a:ext cx="277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are absorbed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73440" y="3127248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event carries an idempotency key. Keys already applied are recorded, so a retried webhook is a no-op.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two implementations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029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MockPaymentProvider settles instantly against a demo wallet so the whole flow runs offline. The AZA provider opens a hosted checkout and waits for a signed checkout.completed callback. Both satisfy the same TypeScript interface, so the domain service does not know or care which is configured.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QR ticket actually contains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17212B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payload, in full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"smartpark-ticket",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"token": "secure-random-token"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plate. No name. No amount. No booking reference. A photographed ticket tells an attacker nothing, and the database stores only a peppered hash of the token - so a database leak does not yield working tickets either.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29968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0299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scan. Marks the ticket entered and starts the session timer.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2907792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32004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2004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31821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Mid-session check. Reports remaining time without changing state.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4078224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370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2932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4370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435254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scan. Releases the space and closes the booking.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5349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- valid or not - writes a verification event naming the warden, the mode and the outcome.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by default, Postgres by design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runs on a SQLite file created on first start. There is no setup step, no container and no credentials - but it is a real relational schema, not a JSON dump.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schema.sql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tables with foreign keys, enum CHECK constraints and indexes. Mirrors the Postgres migration.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table specs that map camelCase domain fields to snake_case columns, plus load and save.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093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67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set the services mutate, and the flush that writes it back to disk.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0" y="1737360"/>
            <a:ext cx="4846320" cy="4114800"/>
          </a:xfrm>
          <a:prstGeom prst="roundRect">
            <a:avLst>
              <a:gd name="adj" fmla="val 2222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949440" y="1965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 that keeps them honest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6060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start, the column list in db.ts is checked against PRAGMA table_info for each table. If the schema and the code have drifted apart, the server refuses to start and names the missing column.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41148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stored schema version does the same job across time: a database file written by an older schema is rejected with the command that fixes it, rather than failing later with a constraint error nobody can place.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Fourteen tables, four concerns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80310" cy="2788920"/>
          </a:xfrm>
          <a:prstGeom prst="roundRect">
            <a:avLst>
              <a:gd name="adj" fmla="val 368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274320" cy="27432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19316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money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19316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wallet_accounts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wallet_transactions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0430" y="1737360"/>
            <a:ext cx="2480310" cy="2788920"/>
          </a:xfrm>
          <a:prstGeom prst="roundRect">
            <a:avLst>
              <a:gd name="adj" fmla="val 368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14750" y="19659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4750" y="2331720"/>
            <a:ext cx="19316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14750" y="2999232"/>
            <a:ext cx="19316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0780" y="1737360"/>
            <a:ext cx="2480310" cy="2788920"/>
          </a:xfrm>
          <a:prstGeom prst="roundRect">
            <a:avLst>
              <a:gd name="adj" fmla="val 368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5100" y="19659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5100" y="2331720"/>
            <a:ext cx="19316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2999232"/>
            <a:ext cx="19316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41130" y="1737360"/>
            <a:ext cx="2480310" cy="2788920"/>
          </a:xfrm>
          <a:prstGeom prst="roundRect">
            <a:avLst>
              <a:gd name="adj" fmla="val 3687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15450" y="196596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15450" y="2331720"/>
            <a:ext cx="19316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and audit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15450" y="2999232"/>
            <a:ext cx="19316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qr_tickets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verification_events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5029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tables carry operational state: demo_qr_tokens, so a reloaded ticket page can redraw its code, and processed_webhook_keys, which is what makes a replayed payment webhook harmless.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change reaches the disk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80310" cy="2057400"/>
          </a:xfrm>
          <a:prstGeom prst="roundRect">
            <a:avLst>
              <a:gd name="adj" fmla="val 444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402336" cy="402336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mutates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19316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service edits the in-memory state, exactly as it always did.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2686" y="2624328"/>
            <a:ext cx="164592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0430" y="1737360"/>
            <a:ext cx="2480310" cy="2057400"/>
          </a:xfrm>
          <a:prstGeom prst="roundRect">
            <a:avLst>
              <a:gd name="adj" fmla="val 444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14750" y="1965960"/>
            <a:ext cx="402336" cy="402336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475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14750" y="248716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markDirty()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714750" y="2834640"/>
            <a:ext cx="19316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from the two funnels every write already passes through: audit and verification.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03036" y="2624328"/>
            <a:ext cx="164592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0780" y="1737360"/>
            <a:ext cx="2480310" cy="2057400"/>
          </a:xfrm>
          <a:prstGeom prst="roundRect">
            <a:avLst>
              <a:gd name="adj" fmla="val 444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5100" y="1965960"/>
            <a:ext cx="402336" cy="402336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510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15100" y="248716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tick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15100" y="2834640"/>
            <a:ext cx="19316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pending flush serialises the state and compares it to what was last written.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03386" y="2624328"/>
            <a:ext cx="164592" cy="146304"/>
          </a:xfrm>
          <a:prstGeom prst="rightArrow">
            <a:avLst/>
          </a:prstGeom>
          <a:solidFill>
            <a:srgbClr val="C9D3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1130" y="1737360"/>
            <a:ext cx="2480310" cy="2057400"/>
          </a:xfrm>
          <a:prstGeom prst="roundRect">
            <a:avLst>
              <a:gd name="adj" fmla="val 444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15450" y="1965960"/>
            <a:ext cx="402336" cy="402336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1545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315450" y="248716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315450" y="2834640"/>
            <a:ext cx="19316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tables are rewritten inside one deferred transaction. Foreign keys are checked at commit.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393192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60120" y="41330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 if a write is missed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44988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one-second sweep re-compares the state against the last snapshot, so a mutation that forgets to announce itself is still written.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393192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629400" y="41330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write changes nothing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44988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93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rolls back as a unit. A schema violation leaves the previous snapshot intact - and there is a test that proves it.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server refuses to trust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scrypt digests with a per-password salt, compared in constant time. No plaintext anywhere.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the server component before rendering. Hiding a link is not access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34670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server-side on every booking and extension.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163824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2940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34670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verified, then deduplicated by idempotency key.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90288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tokens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4773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peppered hash is stored. The payload carries no personal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590288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2940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773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writes an audit row that outlives the account that caused it.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open: the session is an unsigned user-id cookie. Signing, refresh and revocation are the next piece of work.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that were checked, not asserted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901952"/>
            <a:ext cx="237744" cy="23774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995160" y="18470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1305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--noEmit, strict mode, zero errors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0" y="2660904"/>
            <a:ext cx="237744" cy="23774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95160" y="2606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88950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across the whole project, clean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3419856"/>
            <a:ext cx="237744" cy="23774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95160" y="33649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364845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build completes, 45 routes generated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4178808"/>
            <a:ext cx="237744" cy="23774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95160" y="412394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survival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440740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added through the UI was still there after a full server restart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tests cover the round trip, rollback on an invalid write, and that repeated writes replace rather than accumulate rows.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not, yet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06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writes whole tables as one snapshot - correct for demo-sized data, wrong for a busy multi-instance deployment.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an unsigned user-id cookie, with no signing, refresh or revocation.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recognition is a mock provider behind a real interface, not an OCR engine.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 payments are implemented and signed but need merchant onboarding before real money moves.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4F8F9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9659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0E9F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965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06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snapshot writes to row-level repositories, then to Postgres behind the same service interface.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and rotate sessions; add refresh and revocation.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 updates so zone availability refreshes without polling.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rate limiting, structured logging and retention policy before any public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241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SmartPark turns parking enforcement into a question the server can answer: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paid, for which space, until when - and can a warden prove it in three seconds.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564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 should be ready for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5212080" cy="1115568"/>
          </a:xfrm>
          <a:prstGeom prst="roundRect">
            <a:avLst>
              <a:gd name="adj" fmla="val 8197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398678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SQLite and not Postgres?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297680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is written for Postgres and mirrors the migration. SQLite removes the setup step for a demo without changing the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3840480"/>
            <a:ext cx="5212080" cy="1115568"/>
          </a:xfrm>
          <a:prstGeom prst="roundRect">
            <a:avLst>
              <a:gd name="adj" fmla="val 8197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01968" y="398678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a driver forging a ticket?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4297680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is random and only its hash is stored, so a forged code fails the lookup.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5184648"/>
            <a:ext cx="5212080" cy="1115568"/>
          </a:xfrm>
          <a:prstGeom prst="roundRect">
            <a:avLst>
              <a:gd name="adj" fmla="val 8197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32688" y="533095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payment webhook fires twice?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5641848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idempotency key is recorded; the second delivery is a no-op.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5184648"/>
            <a:ext cx="5212080" cy="1115568"/>
          </a:xfrm>
          <a:prstGeom prst="roundRect">
            <a:avLst>
              <a:gd name="adj" fmla="val 8197"/>
            </a:avLst>
          </a:prstGeom>
          <a:solidFill>
            <a:srgbClr val="1F2C38"/>
          </a:solidFill>
          <a:ln w="12700">
            <a:solidFill>
              <a:srgbClr val="33424F"/>
            </a:solidFill>
            <a:prstDash val="solid"/>
          </a:ln>
          <a:effectLst>
            <a:outerShdw sx="100000" sy="100000" kx="0" ky="0" algn="bl" rotWithShape="0" blurRad="127000" dist="635" dir="5400000">
              <a:srgbClr val="17212B">
                <a:alpha val="9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01968" y="533095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the data survives?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5641848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test for the round trip, and the restart was demonstrated live.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SmartPark - Project Presentation</dc:title>
  <dc:subject>PptxGenJS Presentation</dc:subject>
  <dc:creator>SmartPark</dc:creator>
  <cp:lastModifiedBy>SmartPark</cp:lastModifiedBy>
  <cp:revision>1</cp:revision>
  <dcterms:created xsi:type="dcterms:W3CDTF">2026-09-09T00:37:47Z</dcterms:created>
  <dcterms:modified xsi:type="dcterms:W3CDTF">2026-09-09T00:37:47Z</dcterms:modified>
</cp:coreProperties>
</file>